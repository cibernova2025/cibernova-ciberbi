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Zen Dots" charset="1" panose="00000000000000000000"/>
      <p:regular r:id="rId17"/>
    </p:embeddedFont>
    <p:embeddedFont>
      <p:font typeface="Poppins" charset="1" panose="00000500000000000000"/>
      <p:regular r:id="rId18"/>
    </p:embeddedFont>
    <p:embeddedFont>
      <p:font typeface="Open Sans Bold" charset="1" panose="020B0806030504020204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34051" y="8524543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222" r="0" b="-922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1353" y="1548737"/>
            <a:ext cx="13721022" cy="15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3"/>
              </a:lnSpc>
            </a:pPr>
            <a:r>
              <a:rPr lang="en-US" sz="12487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CIBER NOVA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4315" y="3809459"/>
            <a:ext cx="840710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Predicción de Cánce</a:t>
            </a: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 con 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4051" y="6222362"/>
            <a:ext cx="6840855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egrantes: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-</a:t>
            </a: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Benjamín García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-Felipe Galleguillos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-Macarena Vergara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              -Denisse Ponce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  <a:p>
            <a:pPr algn="l" marL="496567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Carrera: Ingeniería en Informática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5429" y="9021442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3774" y="2856807"/>
            <a:ext cx="3086100" cy="5446038"/>
            <a:chOff x="0" y="0"/>
            <a:chExt cx="812800" cy="1434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434347"/>
            </a:xfrm>
            <a:custGeom>
              <a:avLst/>
              <a:gdLst/>
              <a:ahLst/>
              <a:cxnLst/>
              <a:rect r="r" b="b" t="t" l="l"/>
              <a:pathLst>
                <a:path h="1434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34347"/>
                  </a:lnTo>
                  <a:lnTo>
                    <a:pt x="0" y="1434347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149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2351" y="2392921"/>
            <a:ext cx="5023431" cy="5909924"/>
            <a:chOff x="0" y="0"/>
            <a:chExt cx="778261" cy="9156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8261" cy="915602"/>
            </a:xfrm>
            <a:custGeom>
              <a:avLst/>
              <a:gdLst/>
              <a:ahLst/>
              <a:cxnLst/>
              <a:rect r="r" b="b" t="t" l="l"/>
              <a:pathLst>
                <a:path h="915602" w="778261">
                  <a:moveTo>
                    <a:pt x="0" y="0"/>
                  </a:moveTo>
                  <a:lnTo>
                    <a:pt x="778261" y="0"/>
                  </a:lnTo>
                  <a:lnTo>
                    <a:pt x="778261" y="915602"/>
                  </a:lnTo>
                  <a:lnTo>
                    <a:pt x="0" y="915602"/>
                  </a:lnTo>
                  <a:close/>
                </a:path>
              </a:pathLst>
            </a:custGeom>
            <a:blipFill>
              <a:blip r:embed="rId2"/>
              <a:stretch>
                <a:fillRect l="-66191" t="0" r="-10224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86980" y="2526271"/>
            <a:ext cx="8188898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INTRODUCCIÓN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086980" y="3511559"/>
            <a:ext cx="7835494" cy="4465657"/>
            <a:chOff x="0" y="0"/>
            <a:chExt cx="2063669" cy="1176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63669" cy="1176140"/>
            </a:xfrm>
            <a:custGeom>
              <a:avLst/>
              <a:gdLst/>
              <a:ahLst/>
              <a:cxnLst/>
              <a:rect r="r" b="b" t="t" l="l"/>
              <a:pathLst>
                <a:path h="1176140" w="2063669">
                  <a:moveTo>
                    <a:pt x="0" y="0"/>
                  </a:moveTo>
                  <a:lnTo>
                    <a:pt x="2063669" y="0"/>
                  </a:lnTo>
                  <a:lnTo>
                    <a:pt x="2063669" y="1176140"/>
                  </a:lnTo>
                  <a:lnTo>
                    <a:pt x="0" y="117614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63669" cy="1233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447277" y="3785286"/>
            <a:ext cx="7114899" cy="388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proyecto CiberNova busca desarrollar un sistema predictivo para apoyar el diagnóstico temprano de cáncer  mediante técnicas de Machine Learning.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Áreas de desempeño: Análisis de datos, desarrollo de sistemas de información y gestión de proyectos TI.</a:t>
            </a:r>
          </a:p>
          <a:p>
            <a:pPr algn="just">
              <a:lnSpc>
                <a:spcPts val="2793"/>
              </a:lnSpc>
            </a:pPr>
          </a:p>
          <a:p>
            <a:pPr algn="just" marL="453390" indent="-226695" lvl="1">
              <a:lnSpc>
                <a:spcPts val="2793"/>
              </a:lnSpc>
              <a:buFont typeface="Arial"/>
              <a:buChar char="•"/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Competencias: Aplicar técnicas de ciencia de datos, diseñar soluciones de software y utilizar </a:t>
            </a:r>
          </a:p>
          <a:p>
            <a:pPr algn="just">
              <a:lnSpc>
                <a:spcPts val="279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529929" y="2933753"/>
            <a:ext cx="3086100" cy="5269946"/>
            <a:chOff x="0" y="0"/>
            <a:chExt cx="812800" cy="13879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1387969"/>
            </a:xfrm>
            <a:custGeom>
              <a:avLst/>
              <a:gdLst/>
              <a:ahLst/>
              <a:cxnLst/>
              <a:rect r="r" b="b" t="t" l="l"/>
              <a:pathLst>
                <a:path h="138796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865716" y="2484866"/>
            <a:ext cx="6934340" cy="5718833"/>
            <a:chOff x="0" y="0"/>
            <a:chExt cx="1074311" cy="8859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4311" cy="885997"/>
            </a:xfrm>
            <a:custGeom>
              <a:avLst/>
              <a:gdLst/>
              <a:ahLst/>
              <a:cxnLst/>
              <a:rect r="r" b="b" t="t" l="l"/>
              <a:pathLst>
                <a:path h="885997" w="1074311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2"/>
              <a:stretch>
                <a:fillRect l="-15976" t="0" r="-1597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3306817" y="129538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90927" y="706475"/>
            <a:ext cx="9623833" cy="131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OBJETIVO GENERAL Y ESPECÍFICOS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11024" y="2751840"/>
            <a:ext cx="9803735" cy="5690375"/>
            <a:chOff x="0" y="0"/>
            <a:chExt cx="2582054" cy="1498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82054" cy="1498700"/>
            </a:xfrm>
            <a:custGeom>
              <a:avLst/>
              <a:gdLst/>
              <a:ahLst/>
              <a:cxnLst/>
              <a:rect r="r" b="b" t="t" l="l"/>
              <a:pathLst>
                <a:path h="1498700" w="2582054">
                  <a:moveTo>
                    <a:pt x="0" y="0"/>
                  </a:moveTo>
                  <a:lnTo>
                    <a:pt x="2582054" y="0"/>
                  </a:lnTo>
                  <a:lnTo>
                    <a:pt x="2582054" y="1498700"/>
                  </a:lnTo>
                  <a:lnTo>
                    <a:pt x="0" y="1498700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432C7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82054" cy="1555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67097" y="3080726"/>
            <a:ext cx="9271493" cy="497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1636" indent="-265818" lvl="1">
              <a:lnSpc>
                <a:spcPts val="3275"/>
              </a:lnSpc>
              <a:buFont typeface="Arial"/>
              <a:buChar char="•"/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</a:p>
          <a:p>
            <a:pPr algn="just">
              <a:lnSpc>
                <a:spcPts val="3275"/>
              </a:lnSpc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un prototipo de sistema predictivo para diagnóstico temprano de cáncer utilizando machine learning.</a:t>
            </a:r>
          </a:p>
          <a:p>
            <a:pPr algn="just">
              <a:lnSpc>
                <a:spcPts val="3275"/>
              </a:lnSpc>
            </a:pPr>
          </a:p>
          <a:p>
            <a:pPr algn="just" marL="531636" indent="-265818" lvl="1">
              <a:lnSpc>
                <a:spcPts val="3275"/>
              </a:lnSpc>
              <a:buFont typeface="Arial"/>
              <a:buChar char="•"/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Objetivos Específicos:</a:t>
            </a:r>
          </a:p>
          <a:p>
            <a:pPr algn="just">
              <a:lnSpc>
                <a:spcPts val="3275"/>
              </a:lnSpc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Recolectar y preparar datasets clínicos abiertos.</a:t>
            </a:r>
          </a:p>
          <a:p>
            <a:pPr algn="just">
              <a:lnSpc>
                <a:spcPts val="3275"/>
              </a:lnSpc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Realizar análisis exploratorio (EDA).</a:t>
            </a:r>
          </a:p>
          <a:p>
            <a:pPr algn="just">
              <a:lnSpc>
                <a:spcPts val="3275"/>
              </a:lnSpc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Implementar y evaluar modelos predictivos.</a:t>
            </a:r>
          </a:p>
          <a:p>
            <a:pPr algn="just">
              <a:lnSpc>
                <a:spcPts val="3275"/>
              </a:lnSpc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Desarrollar un prototipo funcional.</a:t>
            </a:r>
          </a:p>
          <a:p>
            <a:pPr algn="just">
              <a:lnSpc>
                <a:spcPts val="3275"/>
              </a:lnSpc>
            </a:pPr>
            <a:r>
              <a:rPr lang="en-US" sz="2462" spc="-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Documentar resultados y conclusiones.</a:t>
            </a:r>
          </a:p>
          <a:p>
            <a:pPr algn="just">
              <a:lnSpc>
                <a:spcPts val="3275"/>
              </a:lnSpc>
            </a:pPr>
          </a:p>
          <a:p>
            <a:pPr algn="just">
              <a:lnSpc>
                <a:spcPts val="32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23922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H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79545" y="2137189"/>
            <a:ext cx="11328909" cy="7547886"/>
          </a:xfrm>
          <a:custGeom>
            <a:avLst/>
            <a:gdLst/>
            <a:ahLst/>
            <a:cxnLst/>
            <a:rect r="r" b="b" t="t" l="l"/>
            <a:pathLst>
              <a:path h="7547886" w="11328909">
                <a:moveTo>
                  <a:pt x="0" y="0"/>
                </a:moveTo>
                <a:lnTo>
                  <a:pt x="11328910" y="0"/>
                </a:lnTo>
                <a:lnTo>
                  <a:pt x="11328910" y="7547885"/>
                </a:lnTo>
                <a:lnTo>
                  <a:pt x="0" y="7547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4926"/>
            <a:ext cx="7647473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MOCKUP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83042" y="1378674"/>
            <a:ext cx="816504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9"/>
              </a:lnSpc>
            </a:pPr>
            <a:r>
              <a:rPr lang="en-US" sz="2999" spc="-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Vista general de el analisis exploratorio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>
                      <a:alpha val="23922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h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81005" y="2559252"/>
            <a:ext cx="13569114" cy="6422101"/>
          </a:xfrm>
          <a:custGeom>
            <a:avLst/>
            <a:gdLst/>
            <a:ahLst/>
            <a:cxnLst/>
            <a:rect r="r" b="b" t="t" l="l"/>
            <a:pathLst>
              <a:path h="6422101" w="13569114">
                <a:moveTo>
                  <a:pt x="0" y="0"/>
                </a:moveTo>
                <a:lnTo>
                  <a:pt x="13569115" y="0"/>
                </a:lnTo>
                <a:lnTo>
                  <a:pt x="13569115" y="6422101"/>
                </a:lnTo>
                <a:lnTo>
                  <a:pt x="0" y="6422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6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4926"/>
            <a:ext cx="7647473" cy="131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DIAGRAMA ARQUITECTURA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42434" y="0"/>
            <a:ext cx="6145566" cy="5832701"/>
          </a:xfrm>
          <a:custGeom>
            <a:avLst/>
            <a:gdLst/>
            <a:ahLst/>
            <a:cxnLst/>
            <a:rect r="r" b="b" t="t" l="l"/>
            <a:pathLst>
              <a:path h="5832701" w="6145566">
                <a:moveTo>
                  <a:pt x="0" y="0"/>
                </a:moveTo>
                <a:lnTo>
                  <a:pt x="6145566" y="0"/>
                </a:lnTo>
                <a:lnTo>
                  <a:pt x="6145566" y="5832701"/>
                </a:lnTo>
                <a:lnTo>
                  <a:pt x="0" y="583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736149" y="1721432"/>
            <a:ext cx="7647473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METODOLOGÍA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5808" y="3742003"/>
            <a:ext cx="10281181" cy="383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2315" indent="-351157" lvl="1">
              <a:lnSpc>
                <a:spcPts val="4326"/>
              </a:lnSpc>
              <a:buFont typeface="Arial"/>
              <a:buChar char="•"/>
            </a:pPr>
            <a:r>
              <a:rPr lang="en-US" sz="3252" spc="-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Enfoque principal:</a:t>
            </a:r>
          </a:p>
          <a:p>
            <a:pPr algn="just">
              <a:lnSpc>
                <a:spcPts val="4326"/>
              </a:lnSpc>
            </a:pPr>
            <a:r>
              <a:rPr lang="en-US" sz="3252" spc="-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proyecto se desarrolla bajo la metodologí</a:t>
            </a:r>
            <a:r>
              <a:rPr lang="en-US" sz="3252" spc="-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ágil Scrum, adaptada al contexto académico. Esta metodología permite dividir el trabajo en fases cortas e iterativas llamadas sprints, fomentando la colaboración, flexibilidad y mejora continua.</a:t>
            </a:r>
          </a:p>
          <a:p>
            <a:pPr algn="just">
              <a:lnSpc>
                <a:spcPts val="432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43574" y="1194521"/>
            <a:ext cx="9307358" cy="7888628"/>
          </a:xfrm>
          <a:custGeom>
            <a:avLst/>
            <a:gdLst/>
            <a:ahLst/>
            <a:cxnLst/>
            <a:rect r="r" b="b" t="t" l="l"/>
            <a:pathLst>
              <a:path h="7888628" w="9307358">
                <a:moveTo>
                  <a:pt x="0" y="0"/>
                </a:moveTo>
                <a:lnTo>
                  <a:pt x="9307358" y="0"/>
                </a:lnTo>
                <a:lnTo>
                  <a:pt x="9307358" y="7888628"/>
                </a:lnTo>
                <a:lnTo>
                  <a:pt x="0" y="7888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2760" y="451229"/>
            <a:ext cx="16288986" cy="74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4"/>
              </a:lnSpc>
            </a:pPr>
            <a:r>
              <a:rPr lang="en-US" sz="5843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PLAN DE TRABAJO Y GANTT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7358" y="1558285"/>
            <a:ext cx="12648794" cy="61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63"/>
              </a:lnSpc>
            </a:pPr>
            <a:r>
              <a:rPr lang="en-US" sz="4799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Etapas Técnicas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407" y="3632050"/>
            <a:ext cx="17355186" cy="562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0953" indent="-300477" lvl="1">
              <a:lnSpc>
                <a:spcPts val="3702"/>
              </a:lnSpc>
              <a:buFont typeface="Arial"/>
              <a:buChar char="•"/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Recolección y Preparación de Datos:</a:t>
            </a:r>
          </a:p>
          <a:p>
            <a:pPr algn="just">
              <a:lnSpc>
                <a:spcPts val="3702"/>
              </a:lnSpc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Obt</a:t>
            </a: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ención de datasets clínicos abiertos, limpieza, normalización y balanceo de clases.</a:t>
            </a:r>
          </a:p>
          <a:p>
            <a:pPr algn="just" marL="600953" indent="-300477" lvl="1">
              <a:lnSpc>
                <a:spcPts val="3702"/>
              </a:lnSpc>
              <a:buFont typeface="Arial"/>
              <a:buChar char="•"/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Exploratorio </a:t>
            </a: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(EDA):</a:t>
            </a:r>
          </a:p>
          <a:p>
            <a:pPr algn="just">
              <a:lnSpc>
                <a:spcPts val="3702"/>
              </a:lnSpc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Identificación de patrones y variables relevantes mediante visualizaciones estadísticas.</a:t>
            </a:r>
          </a:p>
          <a:p>
            <a:pPr algn="just" marL="600953" indent="-300477" lvl="1">
              <a:lnSpc>
                <a:spcPts val="3702"/>
              </a:lnSpc>
              <a:buFont typeface="Arial"/>
              <a:buChar char="•"/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Modelado Predictivo:</a:t>
            </a:r>
          </a:p>
          <a:p>
            <a:pPr algn="just">
              <a:lnSpc>
                <a:spcPts val="3702"/>
              </a:lnSpc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Entrenamiento y evaluación de modelos de machine learning para clasificar riesgo de cáncer.</a:t>
            </a:r>
          </a:p>
          <a:p>
            <a:pPr algn="just" marL="600953" indent="-300477" lvl="1">
              <a:lnSpc>
                <a:spcPts val="3702"/>
              </a:lnSpc>
              <a:buFont typeface="Arial"/>
              <a:buChar char="•"/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Desarrollo del Prototipo:</a:t>
            </a:r>
          </a:p>
          <a:p>
            <a:pPr algn="just">
              <a:lnSpc>
                <a:spcPts val="3702"/>
              </a:lnSpc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Integración del modelo en una aplicación funcional con interfaz y base de datos.</a:t>
            </a:r>
          </a:p>
          <a:p>
            <a:pPr algn="just" marL="600953" indent="-300477" lvl="1">
              <a:lnSpc>
                <a:spcPts val="3702"/>
              </a:lnSpc>
              <a:buFont typeface="Arial"/>
              <a:buChar char="•"/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 y Documentación:</a:t>
            </a:r>
          </a:p>
          <a:p>
            <a:pPr algn="just">
              <a:lnSpc>
                <a:spcPts val="3702"/>
              </a:lnSpc>
            </a:pPr>
            <a:r>
              <a:rPr lang="en-US" sz="2783" spc="-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Pruebas del sistema, análisis de resultados y elaboración del informe final.</a:t>
            </a:r>
          </a:p>
          <a:p>
            <a:pPr algn="just">
              <a:lnSpc>
                <a:spcPts val="3702"/>
              </a:lnSpc>
            </a:pPr>
          </a:p>
          <a:p>
            <a:pPr algn="just">
              <a:lnSpc>
                <a:spcPts val="370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55209" y="0"/>
            <a:ext cx="4432791" cy="4207122"/>
          </a:xfrm>
          <a:custGeom>
            <a:avLst/>
            <a:gdLst/>
            <a:ahLst/>
            <a:cxnLst/>
            <a:rect r="r" b="b" t="t" l="l"/>
            <a:pathLst>
              <a:path h="4207122" w="4432791">
                <a:moveTo>
                  <a:pt x="0" y="0"/>
                </a:moveTo>
                <a:lnTo>
                  <a:pt x="4432791" y="0"/>
                </a:lnTo>
                <a:lnTo>
                  <a:pt x="4432791" y="4207122"/>
                </a:lnTo>
                <a:lnTo>
                  <a:pt x="0" y="42071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42773" y="686763"/>
            <a:ext cx="12602455" cy="8396386"/>
          </a:xfrm>
          <a:custGeom>
            <a:avLst/>
            <a:gdLst/>
            <a:ahLst/>
            <a:cxnLst/>
            <a:rect r="r" b="b" t="t" l="l"/>
            <a:pathLst>
              <a:path h="8396386" w="12602455">
                <a:moveTo>
                  <a:pt x="0" y="0"/>
                </a:moveTo>
                <a:lnTo>
                  <a:pt x="12602454" y="0"/>
                </a:lnTo>
                <a:lnTo>
                  <a:pt x="12602454" y="8396386"/>
                </a:lnTo>
                <a:lnTo>
                  <a:pt x="0" y="8396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82712">
            <a:off x="-1710092" y="156469"/>
            <a:ext cx="10210559" cy="9690748"/>
          </a:xfrm>
          <a:custGeom>
            <a:avLst/>
            <a:gdLst/>
            <a:ahLst/>
            <a:cxnLst/>
            <a:rect r="r" b="b" t="t" l="l"/>
            <a:pathLst>
              <a:path h="9690748" w="10210559">
                <a:moveTo>
                  <a:pt x="0" y="0"/>
                </a:moveTo>
                <a:lnTo>
                  <a:pt x="10210558" y="0"/>
                </a:lnTo>
                <a:lnTo>
                  <a:pt x="10210558" y="9690749"/>
                </a:lnTo>
                <a:lnTo>
                  <a:pt x="0" y="9690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667567" y="3045555"/>
            <a:ext cx="2985565" cy="4924127"/>
            <a:chOff x="0" y="0"/>
            <a:chExt cx="786322" cy="12968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6322" cy="1296889"/>
            </a:xfrm>
            <a:custGeom>
              <a:avLst/>
              <a:gdLst/>
              <a:ahLst/>
              <a:cxnLst/>
              <a:rect r="r" b="b" t="t" l="l"/>
              <a:pathLst>
                <a:path h="1296889" w="786322">
                  <a:moveTo>
                    <a:pt x="0" y="0"/>
                  </a:moveTo>
                  <a:lnTo>
                    <a:pt x="786322" y="0"/>
                  </a:lnTo>
                  <a:lnTo>
                    <a:pt x="786322" y="1296889"/>
                  </a:lnTo>
                  <a:lnTo>
                    <a:pt x="0" y="1296889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86322" cy="1354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14680" y="2478627"/>
            <a:ext cx="4366808" cy="5441889"/>
            <a:chOff x="0" y="0"/>
            <a:chExt cx="676533" cy="8430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6533" cy="843091"/>
            </a:xfrm>
            <a:custGeom>
              <a:avLst/>
              <a:gdLst/>
              <a:ahLst/>
              <a:cxnLst/>
              <a:rect r="r" b="b" t="t" l="l"/>
              <a:pathLst>
                <a:path h="843091" w="676533">
                  <a:moveTo>
                    <a:pt x="0" y="0"/>
                  </a:moveTo>
                  <a:lnTo>
                    <a:pt x="676533" y="0"/>
                  </a:lnTo>
                  <a:lnTo>
                    <a:pt x="676533" y="843091"/>
                  </a:lnTo>
                  <a:lnTo>
                    <a:pt x="0" y="843091"/>
                  </a:lnTo>
                  <a:close/>
                </a:path>
              </a:pathLst>
            </a:custGeom>
            <a:blipFill>
              <a:blip r:embed="rId4"/>
              <a:stretch>
                <a:fillRect l="-42999" t="0" r="-4299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2422" y="2527793"/>
            <a:ext cx="4366808" cy="5343557"/>
            <a:chOff x="0" y="0"/>
            <a:chExt cx="676533" cy="827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533" cy="827857"/>
            </a:xfrm>
            <a:custGeom>
              <a:avLst/>
              <a:gdLst/>
              <a:ahLst/>
              <a:cxnLst/>
              <a:rect r="r" b="b" t="t" l="l"/>
              <a:pathLst>
                <a:path h="827857" w="676533">
                  <a:moveTo>
                    <a:pt x="0" y="0"/>
                  </a:moveTo>
                  <a:lnTo>
                    <a:pt x="676533" y="0"/>
                  </a:lnTo>
                  <a:lnTo>
                    <a:pt x="676533" y="827857"/>
                  </a:lnTo>
                  <a:lnTo>
                    <a:pt x="0" y="827857"/>
                  </a:lnTo>
                  <a:close/>
                </a:path>
              </a:pathLst>
            </a:custGeom>
            <a:blipFill>
              <a:blip r:embed="rId5"/>
              <a:stretch>
                <a:fillRect l="-58771" t="0" r="-5877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-2600533" y="2084602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10" y="0"/>
                </a:lnTo>
                <a:lnTo>
                  <a:pt x="4001810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1725" y="1162050"/>
            <a:ext cx="16544549" cy="6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RIESGOS Y ACCIONES DE MEJORA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7253" y="3067521"/>
            <a:ext cx="11750831" cy="490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Principales Riesgos:</a:t>
            </a: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desbalanceado o de gran tamaño.</a:t>
            </a: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iesgo de sobreajuste en modelos.</a:t>
            </a: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</a:t>
            </a: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asos en integración frontend-backend.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•Acciones de Mitigación:</a:t>
            </a: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Aplicar técnicas de balanceo (SMOTE).</a:t>
            </a: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Validación cruzada y tuning de hiperparámetros.</a:t>
            </a:r>
          </a:p>
          <a:p>
            <a:pPr algn="just">
              <a:lnSpc>
                <a:spcPts val="3919"/>
              </a:lnSpc>
            </a:pPr>
            <a:r>
              <a:rPr lang="en-US" sz="2946" spc="-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Seguimiento ágil con tableros Trello/GitHub.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96152" y="9083149"/>
            <a:ext cx="4891848" cy="1203851"/>
          </a:xfrm>
          <a:custGeom>
            <a:avLst/>
            <a:gdLst/>
            <a:ahLst/>
            <a:cxnLst/>
            <a:rect r="r" b="b" t="t" l="l"/>
            <a:pathLst>
              <a:path h="1203851" w="4891848">
                <a:moveTo>
                  <a:pt x="0" y="0"/>
                </a:moveTo>
                <a:lnTo>
                  <a:pt x="4891848" y="0"/>
                </a:lnTo>
                <a:lnTo>
                  <a:pt x="4891848" y="1203851"/>
                </a:lnTo>
                <a:lnTo>
                  <a:pt x="0" y="1203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33967" y="1162050"/>
            <a:ext cx="13020066" cy="67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PRÓXIMOS PASOS Y CIERRE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1758" y="3065634"/>
            <a:ext cx="16027610" cy="601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Completar análisis exploratorio (EDA).</a:t>
            </a:r>
          </a:p>
          <a:p>
            <a:pPr algn="l">
              <a:lnSpc>
                <a:spcPts val="4787"/>
              </a:lnSpc>
            </a:pP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Entrenar y validar modelos predictivos.</a:t>
            </a:r>
          </a:p>
          <a:p>
            <a:pPr algn="l">
              <a:lnSpc>
                <a:spcPts val="4787"/>
              </a:lnSpc>
            </a:pP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Desarr</a:t>
            </a: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ollar prototipo funcional completo.</a:t>
            </a:r>
          </a:p>
          <a:p>
            <a:pPr algn="l">
              <a:lnSpc>
                <a:spcPts val="4787"/>
              </a:lnSpc>
            </a:pP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Integrar visualizaciones en Power BI.</a:t>
            </a:r>
          </a:p>
          <a:p>
            <a:pPr algn="l">
              <a:lnSpc>
                <a:spcPts val="4787"/>
              </a:lnSpc>
            </a:pP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Preparar informe técnico y presentación final.</a:t>
            </a:r>
          </a:p>
          <a:p>
            <a:pPr algn="l">
              <a:lnSpc>
                <a:spcPts val="4787"/>
              </a:lnSpc>
            </a:pPr>
          </a:p>
          <a:p>
            <a:pPr algn="l">
              <a:lnSpc>
                <a:spcPts val="4787"/>
              </a:lnSpc>
            </a:pPr>
            <a:r>
              <a:rPr lang="en-US" sz="3599" spc="-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•El objetivo final es entregar un sistema funcional capaz de apoyar el diagnóstico temprano de cáncer mediante análisis predictivo.</a:t>
            </a:r>
          </a:p>
          <a:p>
            <a:pPr algn="l">
              <a:lnSpc>
                <a:spcPts val="4787"/>
              </a:lnSpc>
            </a:pPr>
          </a:p>
          <a:p>
            <a:pPr algn="l">
              <a:lnSpc>
                <a:spcPts val="478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DAGxIsBhB7c</dc:identifier>
  <dcterms:modified xsi:type="dcterms:W3CDTF">2011-08-01T06:04:30Z</dcterms:modified>
  <cp:revision>1</cp:revision>
  <dc:title>Blue Modern Data Analysis Presentation</dc:title>
</cp:coreProperties>
</file>